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d40468358943de" /><Relationship Type="http://schemas.openxmlformats.org/officeDocument/2006/relationships/extended-properties" Target="/docProps/app.xml" Id="Ra726945467c4499f" /><Relationship Type="http://schemas.openxmlformats.org/officeDocument/2006/relationships/officeDocument" Target="/ppt/presentation.xml" Id="R9fd0f6eae405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361d8b522f426c"/>
  </p:sldMasterIdLst>
  <p:notesMasterIdLst>
    <p:notesMasterId xmlns:r="http://schemas.openxmlformats.org/officeDocument/2006/relationships" r:id="R90337ac368914a48"/>
  </p:notesMasterIdLst>
  <p:sldIdLst>
    <p:sldId xmlns:r="http://schemas.openxmlformats.org/officeDocument/2006/relationships" id="256" r:id="R54047bb166164a58"/>
    <p:sldId xmlns:r="http://schemas.openxmlformats.org/officeDocument/2006/relationships" id="257" r:id="R9d6133f21a4a4181"/>
    <p:sldId xmlns:r="http://schemas.openxmlformats.org/officeDocument/2006/relationships" id="258" r:id="Rda881f364d95411a"/>
    <p:sldId xmlns:r="http://schemas.openxmlformats.org/officeDocument/2006/relationships" id="259" r:id="R0a3dc5082c934f4e"/>
    <p:sldId xmlns:r="http://schemas.openxmlformats.org/officeDocument/2006/relationships" id="260" r:id="R2cb6e74febf9454c"/>
    <p:sldId xmlns:r="http://schemas.openxmlformats.org/officeDocument/2006/relationships" id="261" r:id="R1cd2308987164b60"/>
    <p:sldId xmlns:r="http://schemas.openxmlformats.org/officeDocument/2006/relationships" id="262" r:id="R6257eb3c276f487e"/>
    <p:sldId xmlns:r="http://schemas.openxmlformats.org/officeDocument/2006/relationships" id="263" r:id="R8f052bf6d9e34525"/>
    <p:sldId xmlns:r="http://schemas.openxmlformats.org/officeDocument/2006/relationships" id="264" r:id="R2a773ef7b7464ca5"/>
    <p:sldId xmlns:r="http://schemas.openxmlformats.org/officeDocument/2006/relationships" id="265" r:id="Rb944c7ec96fb46e3"/>
    <p:sldId xmlns:r="http://schemas.openxmlformats.org/officeDocument/2006/relationships" id="266" r:id="R8262e1fdb79a40b6"/>
    <p:sldId xmlns:r="http://schemas.openxmlformats.org/officeDocument/2006/relationships" id="267" r:id="R75ad8e31be1a4222"/>
    <p:sldId xmlns:r="http://schemas.openxmlformats.org/officeDocument/2006/relationships" id="268" r:id="R3c19965fa89f49cb"/>
    <p:sldId xmlns:r="http://schemas.openxmlformats.org/officeDocument/2006/relationships" id="269" r:id="R4b7a696fed9b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162b0def944d2" /><Relationship Type="http://schemas.openxmlformats.org/officeDocument/2006/relationships/slideMaster" Target="/ppt/slideMasters/slideMaster1.xml" Id="Ra1361d8b522f426c" /><Relationship Type="http://schemas.openxmlformats.org/officeDocument/2006/relationships/notesMaster" Target="/ppt/notesMasters/notesMaster1.xml" Id="R90337ac368914a48" /><Relationship Type="http://schemas.openxmlformats.org/officeDocument/2006/relationships/presProps" Target="/ppt/presProps.xml" Id="R5a7378e640f34e46" /><Relationship Type="http://schemas.openxmlformats.org/officeDocument/2006/relationships/tableStyles" Target="/ppt/tableStyles.xml" Id="R5e655d9a9b104dc9" /><Relationship Type="http://schemas.openxmlformats.org/officeDocument/2006/relationships/slide" Target="/ppt/slides/slide1.xml" Id="R54047bb166164a58" /><Relationship Type="http://schemas.openxmlformats.org/officeDocument/2006/relationships/slide" Target="/ppt/slides/slide2.xml" Id="R9d6133f21a4a4181" /><Relationship Type="http://schemas.openxmlformats.org/officeDocument/2006/relationships/slide" Target="/ppt/slides/slide3.xml" Id="Rda881f364d95411a" /><Relationship Type="http://schemas.openxmlformats.org/officeDocument/2006/relationships/slide" Target="/ppt/slides/slide4.xml" Id="R0a3dc5082c934f4e" /><Relationship Type="http://schemas.openxmlformats.org/officeDocument/2006/relationships/slide" Target="/ppt/slides/slide5.xml" Id="R2cb6e74febf9454c" /><Relationship Type="http://schemas.openxmlformats.org/officeDocument/2006/relationships/slide" Target="/ppt/slides/slide6.xml" Id="R1cd2308987164b60" /><Relationship Type="http://schemas.openxmlformats.org/officeDocument/2006/relationships/slide" Target="/ppt/slides/slide7.xml" Id="R6257eb3c276f487e" /><Relationship Type="http://schemas.openxmlformats.org/officeDocument/2006/relationships/slide" Target="/ppt/slides/slide8.xml" Id="R8f052bf6d9e34525" /><Relationship Type="http://schemas.openxmlformats.org/officeDocument/2006/relationships/slide" Target="/ppt/slides/slide9.xml" Id="R2a773ef7b7464ca5" /><Relationship Type="http://schemas.openxmlformats.org/officeDocument/2006/relationships/slide" Target="/ppt/slides/slide10.xml" Id="Rb944c7ec96fb46e3" /><Relationship Type="http://schemas.openxmlformats.org/officeDocument/2006/relationships/slide" Target="/ppt/slides/slide11.xml" Id="R8262e1fdb79a40b6" /><Relationship Type="http://schemas.openxmlformats.org/officeDocument/2006/relationships/slide" Target="/ppt/slides/slide12.xml" Id="R75ad8e31be1a4222" /><Relationship Type="http://schemas.openxmlformats.org/officeDocument/2006/relationships/slide" Target="/ppt/slides/slide13.xml" Id="R3c19965fa89f49cb" /><Relationship Type="http://schemas.openxmlformats.org/officeDocument/2006/relationships/slide" Target="/ppt/slides/slide14.xml" Id="R4b7a696fed9b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b6f26d2a8c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407abdc984dc1" /><Relationship Type="http://schemas.openxmlformats.org/officeDocument/2006/relationships/notesMaster" Target="/ppt/notesMasters/notesMaster1.xml" Id="R6801f18f511343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e827495064da4" /><Relationship Type="http://schemas.openxmlformats.org/officeDocument/2006/relationships/notesMaster" Target="/ppt/notesMasters/notesMaster1.xml" Id="Rf74911f858a947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a2aad36eb42be" /><Relationship Type="http://schemas.openxmlformats.org/officeDocument/2006/relationships/notesMaster" Target="/ppt/notesMasters/notesMaster1.xml" Id="Rfb4b1fa7f9074f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cf9b7dd73c4f75" /><Relationship Type="http://schemas.openxmlformats.org/officeDocument/2006/relationships/notesMaster" Target="/ppt/notesMasters/notesMaster1.xml" Id="R6ceb4157d8bf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76cb6a200a4085" /><Relationship Type="http://schemas.openxmlformats.org/officeDocument/2006/relationships/notesMaster" Target="/ppt/notesMasters/notesMaster1.xml" Id="Re63221206d5545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02b7fe579b4baf" /><Relationship Type="http://schemas.openxmlformats.org/officeDocument/2006/relationships/notesMaster" Target="/ppt/notesMasters/notesMaster1.xml" Id="Refa0f491e37c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3049e382b4c58" /><Relationship Type="http://schemas.openxmlformats.org/officeDocument/2006/relationships/notesMaster" Target="/ppt/notesMasters/notesMaster1.xml" Id="R403f7c2db98d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7e5c880f3b4580" /><Relationship Type="http://schemas.openxmlformats.org/officeDocument/2006/relationships/notesMaster" Target="/ppt/notesMasters/notesMaster1.xml" Id="Rd8bdb6cb8f3546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2b16e7e88d4a5e" /><Relationship Type="http://schemas.openxmlformats.org/officeDocument/2006/relationships/notesMaster" Target="/ppt/notesMasters/notesMaster1.xml" Id="R30a31b0e096d4b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b84d879a9f4a01" /><Relationship Type="http://schemas.openxmlformats.org/officeDocument/2006/relationships/notesMaster" Target="/ppt/notesMasters/notesMaster1.xml" Id="R8dd6965c9da04d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4b808fe38446ad" /><Relationship Type="http://schemas.openxmlformats.org/officeDocument/2006/relationships/notesMaster" Target="/ppt/notesMasters/notesMaster1.xml" Id="R9852950b9ff543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06e1c78bda4ac1" /><Relationship Type="http://schemas.openxmlformats.org/officeDocument/2006/relationships/notesMaster" Target="/ppt/notesMasters/notesMaster1.xml" Id="R7afc58b8e7cf45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25278e120844f1" /><Relationship Type="http://schemas.openxmlformats.org/officeDocument/2006/relationships/notesMaster" Target="/ppt/notesMasters/notesMaster1.xml" Id="R178dd370f51941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c665309ea74c78" /><Relationship Type="http://schemas.openxmlformats.org/officeDocument/2006/relationships/notesMaster" Target="/ppt/notesMasters/notesMaster1.xml" Id="R764ba057eba6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Q/K после RMS-нормализации. Beta умножает logits один раз. Это отдельная настройка от temperature генерации.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Авторские результаты, не наши измерения. Figure2: суммарный бюджет16B токенов. Наш сценарий: §5.1, Appendix C.1, Table4.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Train/dev/test проверены на совпадение document hashes. Test SHA256 одинаков в основных оценках до/после. Beta подобрана на двух dev-блоках8192.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results/stage2/dev_curve.json. На графике исходные абсолютные шаги, CE округлена до6 знаков для таблицы PowerPoint. Средний шаг3.007с; peak allocated9.25GiB/GPU.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results/extra/PROVENANCE.md. Explicit factor2/4 применён, max_position_embeddings оставался2048. Новый код исправляет метаданные только дляYaRN. Retrieval YaRN/NTK не измерялся.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  <a:p xmlns:a="http://schemas.openxmlformats.org/drawingml/2006/main">
            <a:r>
              <a:t>NIAH после исправленияKVcache. Greedy max24newtokens, первое извлечённое7digitчисло. Prompt2048+24 может превысить исходный предел. Short512 такжеfailed. No-needle4/роль не включён вaccuracy.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Статья: https://arxiv.org/abs/2512.12167</a:t>
            </a:r>
          </a:p>
          <a:p xmlns:a="http://schemas.openxmlformats.org/drawingml/2006/main">
            <a:r>
              <a:t>Код авторов: https://github.com/SakanaAI/DroPE/tree/260a8bb9f4fda0673266ddfee7668915aade8b33</a:t>
            </a:r>
          </a:p>
          <a:p xmlns:a="http://schemas.openxmlformats.org/drawingml/2006/main">
            <a:r>
              <a:t>Результаты запуска: results/ в проекте. Палитра взята с https://ai.itmo.ru/ (#FA5416, #111111).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4b5a0c20c4c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2e9af13ca4c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dc180a99c42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d25801b0149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3b2352c6345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b3611045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9A180B-68C9-4348-9409-1969BD771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117A39-F8F9-4EF1-AFC0-A6E2A1CCDD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06302E-7DCA-4A62-9212-AEEA07EE3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068A09-01A3-481C-BC0E-5A61FC271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7B259E-FDF3-415F-91B2-66EDA5FEF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9E9772-B199-4FC0-A598-66F1CE7F2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EA1374-B194-4F2A-A076-19FC5F87F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7A8E9C-AE43-4B9C-85E6-DF759E5835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80A49B-0D62-41AB-BA71-1CA191E35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C7AF0A-FD7D-408F-B599-28D80FB69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9e26ab9c6455b" /><Relationship Type="http://schemas.openxmlformats.org/officeDocument/2006/relationships/slideLayout" Target="/ppt/slideLayouts/slideLayout1.xml" Id="R4eb4f4a58c004bbd" /><Relationship Type="http://schemas.openxmlformats.org/officeDocument/2006/relationships/slideLayout" Target="/ppt/slideLayouts/slideLayout2.xml" Id="R5bfe3e6e62b14034" /><Relationship Type="http://schemas.openxmlformats.org/officeDocument/2006/relationships/slideLayout" Target="/ppt/slideLayouts/slideLayout3.xml" Id="R7828240b254741dd" /><Relationship Type="http://schemas.openxmlformats.org/officeDocument/2006/relationships/slideLayout" Target="/ppt/slideLayouts/slideLayout4.xml" Id="R061a79fe0ceb44d7" /><Relationship Type="http://schemas.openxmlformats.org/officeDocument/2006/relationships/slideLayout" Target="/ppt/slideLayouts/slideLayout5.xml" Id="R0dc94383f6d34897" /><Relationship Type="http://schemas.openxmlformats.org/officeDocument/2006/relationships/slideLayout" Target="/ppt/slideLayouts/slideLayout6.xml" Id="R5d990428d03e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4f4a58c004bbd"/>
    <p:sldLayoutId xmlns:r="http://schemas.openxmlformats.org/officeDocument/2006/relationships" id="2147483650" r:id="R5bfe3e6e62b14034"/>
    <p:sldLayoutId xmlns:r="http://schemas.openxmlformats.org/officeDocument/2006/relationships" id="2147483651" r:id="R7828240b254741dd"/>
    <p:sldLayoutId xmlns:r="http://schemas.openxmlformats.org/officeDocument/2006/relationships" id="2147483652" r:id="R061a79fe0ceb44d7"/>
    <p:sldLayoutId xmlns:r="http://schemas.openxmlformats.org/officeDocument/2006/relationships" id="2147483653" r:id="R0dc94383f6d34897"/>
    <p:sldLayoutId xmlns:r="http://schemas.openxmlformats.org/officeDocument/2006/relationships" id="2147483654" r:id="R5d990428d03e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fc7d0c1a64938" /><Relationship Type="http://schemas.openxmlformats.org/officeDocument/2006/relationships/notesSlide" Target="/ppt/notesSlides/notesSlide1.xml" Id="R940e5f8a7516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2f4e3dc1544502" /><Relationship Type="http://schemas.openxmlformats.org/officeDocument/2006/relationships/notesSlide" Target="/ppt/notesSlides/notesSlide2.xml" Id="R640390a789bf46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985ee7f004639" /><Relationship Type="http://schemas.openxmlformats.org/officeDocument/2006/relationships/notesSlide" Target="/ppt/notesSlides/notesSlide3.xml" Id="R8a2b31958e3044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b9826415544fb" /><Relationship Type="http://schemas.openxmlformats.org/officeDocument/2006/relationships/notesSlide" Target="/ppt/notesSlides/notesSlide4.xml" Id="Raa9de522b4e044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d4078e37f44b1" /><Relationship Type="http://schemas.openxmlformats.org/officeDocument/2006/relationships/notesSlide" Target="/ppt/notesSlides/notesSlide5.xml" Id="R8d00c774b485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72795c4f54f21" /><Relationship Type="http://schemas.openxmlformats.org/officeDocument/2006/relationships/notesSlide" Target="/ppt/notesSlides/notesSlide6.xml" Id="Re0f3c2692eed49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eb02b218b43ea" /><Relationship Type="http://schemas.openxmlformats.org/officeDocument/2006/relationships/notesSlide" Target="/ppt/notesSlides/notesSlide7.xml" Id="R67a1874979f048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dbc07f01a4ca8" /><Relationship Type="http://schemas.openxmlformats.org/officeDocument/2006/relationships/chart" Target="/ppt/slides/charts/chart1.xml" Id="Rcd10426784574389" /><Relationship Type="http://schemas.openxmlformats.org/officeDocument/2006/relationships/notesSlide" Target="/ppt/notesSlides/notesSlide8.xml" Id="R214dd008bdcc4f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64e4535974d95" /><Relationship Type="http://schemas.openxmlformats.org/officeDocument/2006/relationships/notesSlide" Target="/ppt/notesSlides/notesSlide9.xml" Id="Rd49667e357a74e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74bc61d0b47ac" /><Relationship Type="http://schemas.openxmlformats.org/officeDocument/2006/relationships/notesSlide" Target="/ppt/notesSlides/notesSlide10.xml" Id="R429bc60803a04c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863ad85d64b59" /><Relationship Type="http://schemas.openxmlformats.org/officeDocument/2006/relationships/chart" Target="/ppt/slides/charts/chart2.xml" Id="R07c7fb016ba04ae7" /><Relationship Type="http://schemas.openxmlformats.org/officeDocument/2006/relationships/notesSlide" Target="/ppt/notesSlides/notesSlide11.xml" Id="R1a9cd125ab8d47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a64901366840bc" /><Relationship Type="http://schemas.openxmlformats.org/officeDocument/2006/relationships/notesSlide" Target="/ppt/notesSlides/notesSlide12.xml" Id="R2b89543d960349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d84544d6e42dc" /><Relationship Type="http://schemas.openxmlformats.org/officeDocument/2006/relationships/notesSlide" Target="/ppt/notesSlides/notesSlide13.xml" Id="R6eb1d9fe4ad548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11a544e9944a7" /><Relationship Type="http://schemas.openxmlformats.org/officeDocument/2006/relationships/notesSlide" Target="/ppt/notesSlides/notesSlide14.xml" Id="Ra52daa417aa3495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Ошибка на dev во втором этапе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11111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DroPE</c:v>
          </c:tx>
          <c:spPr>
            <a:ln xmlns:a="http://schemas.openxmlformats.org/drawingml/2006/main" w="28575">
              <a:solidFill>
                <a:srgbClr val="FA541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A5416"/>
              </a:solidFill>
            </c:spPr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8712</c:v>
                </c:pt>
                <c:pt idx="1">
                  <c:v>9000</c:v>
                </c:pt>
                <c:pt idx="2">
                  <c:v>10000</c:v>
                </c:pt>
                <c:pt idx="3">
                  <c:v>11000</c:v>
                </c:pt>
                <c:pt idx="4">
                  <c:v>12000</c:v>
                </c:pt>
                <c:pt idx="5">
                  <c:v>13000</c:v>
                </c:pt>
                <c:pt idx="6">
                  <c:v>14000</c:v>
                </c:pt>
                <c:pt idx="7">
                  <c:v>15000</c:v>
                </c:pt>
                <c:pt idx="8">
                  <c:v>16000</c:v>
                </c:pt>
                <c:pt idx="9">
                  <c:v>17000</c:v>
                </c:pt>
                <c:pt idx="10">
                  <c:v>18000</c:v>
                </c:pt>
                <c:pt idx="11">
                  <c:v>18689</c:v>
                </c:pt>
              </c:numCache>
            </c:numRef>
          </c:xVal>
          <c:yVal>
            <c:numRef>
              <c:f>'Chart Data'!$B$2:$B$13</c:f>
              <c:numCache>
                <c:formatCode>General</c:formatCode>
                <c:ptCount val="12"/>
                <c:pt idx="0">
                  <c:v>3.82544</c:v>
                </c:pt>
                <c:pt idx="1">
                  <c:v>3.808181</c:v>
                </c:pt>
                <c:pt idx="2">
                  <c:v>3.76417</c:v>
                </c:pt>
                <c:pt idx="3">
                  <c:v>3.7147</c:v>
                </c:pt>
                <c:pt idx="4">
                  <c:v>3.678644</c:v>
                </c:pt>
                <c:pt idx="5">
                  <c:v>3.639776</c:v>
                </c:pt>
                <c:pt idx="6">
                  <c:v>3.613378</c:v>
                </c:pt>
                <c:pt idx="7">
                  <c:v>3.577671</c:v>
                </c:pt>
                <c:pt idx="8">
                  <c:v>3.557467</c:v>
                </c:pt>
                <c:pt idx="9">
                  <c:v>3.526388</c:v>
                </c:pt>
                <c:pt idx="10">
                  <c:v>3.513723</c:v>
                </c:pt>
                <c:pt idx="11">
                  <c:v>3.49764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9"/>
          <c:min val="3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F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19000"/>
          <c:min val="80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DejaVu Sans"/>
                    <a:ea typeface="DejaVu Sans"/>
                    <a:cs typeface="DejaVu Sans"/>
                  </a:rPr>
                  <a:t>Шаг обучения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  <c:majorUnit val="20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Ошибка предсказания следующего токена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11111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DroPE, beta с dev</c:v>
          </c:tx>
          <c:spPr>
            <a:ln xmlns:a="http://schemas.openxmlformats.org/drawingml/2006/main" w="38100">
              <a:solidFill>
                <a:srgbClr val="FA5416"/>
              </a:solidFill>
            </a:ln>
          </c:spPr>
          <c:marker>
            <c:symbol val="circle"/>
            <c:size val="7"/>
          </c:marker>
          <c:cat>
            <c:numRef>
              <c:f>'Chart Data'!$A$2:$A$3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3.719205</c:v>
                </c:pt>
                <c:pt idx="1">
                  <c:v>4.394709</c:v>
                </c:pt>
              </c:numCache>
            </c:numRef>
          </c:val>
        </c:ser>
        <c:ser>
          <c:idx val="1"/>
          <c:order val="1"/>
          <c:tx>
            <c:v>RoPE без scaling</c:v>
          </c:tx>
          <c:spPr>
            <a:ln xmlns:a="http://schemas.openxmlformats.org/drawingml/2006/main" w="28575">
              <a:solidFill>
                <a:srgbClr val="111111"/>
              </a:solidFill>
            </a:ln>
          </c:spPr>
          <c:marker>
            <c:symbol val="square"/>
            <c:size val="6"/>
          </c:marker>
          <c:cat>
            <c:numRef>
              <c:f>'Chart Data'!$C$2:$C$3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4.342654</c:v>
                </c:pt>
                <c:pt idx="1">
                  <c:v>5.659053</c:v>
                </c:pt>
              </c:numCache>
            </c:numRef>
          </c:val>
        </c:ser>
        <c:ser>
          <c:idx val="2"/>
          <c:order val="2"/>
          <c:tx>
            <c:v>Dynamic NTK</c:v>
          </c:tx>
          <c:spPr>
            <a:ln xmlns:a="http://schemas.openxmlformats.org/drawingml/2006/main" w="28575">
              <a:solidFill>
                <a:srgbClr val="7C7C84"/>
              </a:solidFill>
            </a:ln>
          </c:spPr>
          <c:marker>
            <c:symbol val="triangle"/>
            <c:size val="7"/>
          </c:marker>
          <c:cat>
            <c:numRef>
              <c:f>'Chart Data'!$E$2:$E$3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2.522373</c:v>
                </c:pt>
                <c:pt idx="1">
                  <c:v>2.95789</c:v>
                </c:pt>
              </c:numCache>
            </c:numRef>
          </c:val>
        </c:ser>
        <c:ser>
          <c:idx val="3"/>
          <c:order val="3"/>
          <c:tx>
            <c:v>YaRN</c:v>
          </c:tx>
          <c:spPr>
            <a:ln xmlns:a="http://schemas.openxmlformats.org/drawingml/2006/main" w="28575">
              <a:solidFill>
                <a:srgbClr val="B0B0B8"/>
              </a:solidFill>
            </a:ln>
          </c:spPr>
          <c:marker>
            <c:symbol val="diamond"/>
            <c:size val="7"/>
          </c:marker>
          <c:cat>
            <c:numRef>
              <c:f>'Chart Data'!$G$2:$G$3</c:f>
              <c:numCache>
                <c:formatCode>General</c:formatCode>
                <c:ptCount val="2"/>
                <c:pt idx="0">
                  <c:v>4096</c:v>
                </c:pt>
                <c:pt idx="1">
                  <c:v>8192</c:v>
                </c:pt>
              </c:numCache>
            </c:numRef>
          </c:cat>
          <c:val>
            <c:numRef>
              <c:f>'Chart Data'!$H$2:$H$3</c:f>
              <c:numCache>
                <c:formatCode>General</c:formatCode>
                <c:ptCount val="2"/>
                <c:pt idx="0">
                  <c:v>2.49155</c:v>
                </c:pt>
                <c:pt idx="1">
                  <c:v>2.493982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DejaVu Sans"/>
                    <a:ea typeface="DejaVu Sans"/>
                    <a:cs typeface="DejaVu Sans"/>
                  </a:rPr>
                  <a:t>Длина контекста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latin typeface="DejaVu Sans"/>
                    <a:ea typeface="DejaVu Sans"/>
                    <a:cs typeface="DejaVu Sans"/>
                  </a:rPr>
                  <a:t>CE, меньше лучше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DejaVu Sans"/>
              <a:ea typeface="DejaVu Sans"/>
              <a:cs typeface="DejaVu San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FBBF4-D0B9-4AD8-84B7-DE06D5C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B8B8C0"/>
                </a:solidFill>
                <a:latin typeface="DejaVu Sans"/>
                <a:ea typeface="DejaVu Sans"/>
                <a:cs typeface="DejaVu Sans"/>
              </a:rPr>
              <a:t>ДОМАШНЕЕ ЗАДАНИЕ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A846E-C2BF-4980-9224-059E9826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6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96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96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DroPE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3B965-59CF-43A6-A793-DF0DAF65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Что будет, если убрать RoPE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из уже обученной модели?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37874-5CF0-4B91-9606-0EFEA78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Разбор статьи и мой эксперимент на двух T4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6C6F-D7F7-48C9-BD68-858AB61E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rPr>
              <a:t>Extending the Context of Pretrained LLMs by Dropping Their Positional Embeddings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FFB1C-A941-4A48-8A0E-F7D1D83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8B8C0"/>
                </a:solidFill>
                <a:latin typeface="DejaVu Sans"/>
                <a:ea typeface="DejaVu Sans"/>
                <a:cs typeface="DejaVu Sans"/>
              </a:rPr>
              <a:t>Gelberg, Eguchi, Akiba, Cetin / Sakana AI и Oxford /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88322-D92E-4D7E-8B1B-0954A70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8B8C0"/>
                </a:solidFill>
                <a:latin typeface="DejaVu Sans"/>
                <a:ea typeface="DejaVu Sans"/>
                <a:cs typeface="DejaVu Sans"/>
              </a:rPr>
              <a:t>11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112377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D80D9-14D2-4F7E-AAFA-8DEA370A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0E125-56D8-4EF4-83E3-EBA06678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Почему модель теряется на длинном тексте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F513D-6362-4708-8856-4C85D826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При обучении RoPE помогает учитывать, где находятся токены.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D9992-FA45-496E-875B-B6E5D12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AAFF0-D34C-4413-B9B3-924061A8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2E07D-297D-4DFF-89EB-1EED9AE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8B199-32B6-47F6-A724-97F9C99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0985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В привычном контексте это полезная подсказка.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598E8-95D3-46AA-9C68-FAB3359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F435D-06DE-44E5-951D-DF048B71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766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За пределами обучающей длины позиционные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зависимости меняются. Качество может упасть.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D6C83-DAEF-4C3E-BD35-EC8A9F0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3D56F-A02C-4D7C-8E98-12B5E9AF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67677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Авторы проверяют, можно ли после обучения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отказаться от этой подсказки.</a:t>
            </a:r>
          </a:p>
        </p:txBody>
      </p:sp>
    </p:spTree>
    <p:extLst>
      <p:ext uri="{BB962C8B-B14F-4D97-AF65-F5344CB8AC3E}">
        <p14:creationId xmlns:p14="http://schemas.microsoft.com/office/powerpoint/2010/main" val="2026388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F5338-F405-4234-87CA-0A0B1324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C203A-2D3A-4F68-998C-1BFC597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Что делают авторы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E1895-E205-485E-9301-7BB3381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Они берут готовую модель и меняют её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BAAC0-196D-4D87-A1B8-DFE99552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0484C-8BF1-4C80-8EEF-9BA5D7E2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752D7-F469-4C40-A500-2EFF56DE4724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347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457950"/>
              </a:tblGrid>
              <a:tr h="63055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Шаг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Что меняется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Убрать RoPE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Отключить позиционное вращение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Нормировать Q и 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Использовать QKNoPE для SmolLM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Дать модели адаптироваться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Дообучить на привычных 2048 токенах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Проверить длинный контекст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Увеличить длину только при оценке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1BAA3-8527-444A-9996-7C9550C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Причинная маска остаётся. Длинные тексты для адаптации не нужны.</a:t>
            </a:r>
          </a:p>
        </p:txBody>
      </p:sp>
    </p:spTree>
    <p:extLst>
      <p:ext uri="{BB962C8B-B14F-4D97-AF65-F5344CB8AC3E}">
        <p14:creationId xmlns:p14="http://schemas.microsoft.com/office/powerpoint/2010/main" val="1074772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9E494-8FA1-4D09-82A2-78E7D588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DCD30-5CA3-4FA0-B421-F438236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 длинном контексте помогает beta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48ACA-47E9-4948-BA8B-70D4010A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rPr>
              <a:t>Больше ключей в attention может размывать распределение вероятности.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626C0-1FAA-4F30-8B40-7063148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D76D1-03F0-4945-9346-DE039A0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A488E-28D2-40C2-895D-889F602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Attention = softmax( β · QKᵀ / √d + mask )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E2148-C36E-4E46-8999-A8F02CD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4C4CC"/>
                </a:solidFill>
                <a:latin typeface="DejaVu Sans"/>
                <a:ea typeface="DejaVu Sans"/>
                <a:cs typeface="DejaVu Sans"/>
              </a:rPr>
              <a:t>Формула авторов для SmolLM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C8B64-3870-4684-BC57-1E79C8AA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β(L) = 1 + 0.103 · ln(max(1, L / 2048))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1EE1E-B245-45BF-8980-1A60696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Я проверил эту формулу и отдельно подобрал beta на dev.</a:t>
            </a:r>
          </a:p>
        </p:txBody>
      </p:sp>
    </p:spTree>
    <p:extLst>
      <p:ext uri="{BB962C8B-B14F-4D97-AF65-F5344CB8AC3E}">
        <p14:creationId xmlns:p14="http://schemas.microsoft.com/office/powerpoint/2010/main" val="1544025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412E1-844B-4FA7-9209-128A20DA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C0734-9901-416C-845A-2F3F4AEF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Какие результаты получили авторы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5D3FC-8726-4F05-BE8B-1AD3822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В статье есть обучение с нуля и адаптация готовых моделей.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F7832-5A57-4003-B70D-720F4304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A365C-CF57-4452-B299-A2B68507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552E3-99A7-45D9-9D61-F0E9F277E150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347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669607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Эксперимент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Результат статьи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Обучение с нуля, Figure 2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14K шагов RoPE + 2K DroPE дают качество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RoPE, обученной 16K шагов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NoPE с нуля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При том же бюджете уступает DroPE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Готовые модели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Адаптация на коротком контексте,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затем проверка LM и NIAH на длинном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ECF21-E1E7-4866-BCE1-6597AA31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Мой запуск относится к адаптации готовой SmolLM-360M.</a:t>
            </a:r>
          </a:p>
        </p:txBody>
      </p:sp>
    </p:spTree>
    <p:extLst>
      <p:ext uri="{BB962C8B-B14F-4D97-AF65-F5344CB8AC3E}">
        <p14:creationId xmlns:p14="http://schemas.microsoft.com/office/powerpoint/2010/main" val="745551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452DC-8BCD-4CAF-9D26-82BFDAE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56A5A-A983-4BAC-B19F-B91199C0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На что хватило двух T4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D8257-2B84-44B5-928E-35DBFF0B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Сценарий тот же, но объём обучения и настройки заметно отличаются.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A8EB4-8E76-461E-A02D-E9EAFBE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530DD-F62A-4E7E-817C-014E6C2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A9C64-7687-4E0F-887D-E512E40E827D}"/>
              </a:ext>
            </a:extLst>
          </p:cNvPr>
          <p:cNvGraphicFramePr/>
          <p:nvPr/>
        </p:nvGraphicFramePr>
        <p:xfrm>
          <a:off xmlns:a="http://schemas.openxmlformats.org/drawingml/2006/main" x="609600" y="2447925"/>
          <a:ext xmlns:a="http://schemas.openxmlformats.org/drawingml/2006/main" cx="10934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3286125"/>
                <a:gridCol w="3552825"/>
              </a:tblGrid>
              <a:tr h="539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Настройка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Статья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Мой запуск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Длина при адаптации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Входные токены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31.46–125.8 млрд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0.3062 млрд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Batch / максимальный LR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512 / 1e−3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/ 3e−5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Точность / изменение LR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bf16 / cosine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fp16 / постоянный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Текст для NIAH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Paul Graham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FineWeb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4FEB-A80C-4FC1-BC2B-20106C6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Мой бюджет: около 0.97% от самого малого сопоставимого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3967205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19319-A745-4F60-9CDA-149E75BA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A825-EB4F-4BAD-B7A0-35CF135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Как я обучал и проверял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B263A-B393-4222-95E5-45DCB1EE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Все версии модели, данных и авторского кода зафиксированы.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0C450-1F5E-4B6A-AC82-F1A62F23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1AFC-3FAB-4E96-B013-62CC3974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2418-7E53-47A6-B20C-7D7F16A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Обучение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3ED55-EBD3-40BC-A199-B1604BC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8172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SmolLM-360M с QKNoPE: сначала 8712 шагов.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После восстановления состояния продолжил до 18689.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82D5-0E5C-4E02-8550-18ACB6A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Настройки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B3C58-5976-4794-97B1-D5CE4DC1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43325"/>
            <a:ext cx="8172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Две T4, microbatch 1, accum 4, общий batch 8.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Контекст 2048, LR 3e−5, fp16, ZeRO1 и SDPA.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B193E-7A98-4A6D-AD56-45777C6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C5BBF-4A9F-4832-848F-4756F91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57750"/>
            <a:ext cx="8172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Dev: 16 блоков по 2048. Test: 8 блоков по 8192.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Для коротких тестов взято начало тех же блоков.</a:t>
            </a:r>
          </a:p>
        </p:txBody>
      </p:sp>
    </p:spTree>
    <p:extLst>
      <p:ext uri="{BB962C8B-B14F-4D97-AF65-F5344CB8AC3E}">
        <p14:creationId xmlns:p14="http://schemas.microsoft.com/office/powerpoint/2010/main" val="11129556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78DCD-D74B-4D79-93B9-555BDD3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575C2-6ACE-400E-A6DC-89F0104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Дообучение помогло на dev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F4BF7-29D0-45B4-B139-D4B7E944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CE снизилась с 3.8254 до 3.4976. Чем меньше, тем лучше.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7FEEE-58BD-4767-88C8-497290F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3CFED-EAB6-4EE8-99B4-AD50D3B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764062-5CA3-46D3-8686-BFA811063DFB}"/>
              </a:ext>
            </a:extLst>
          </p:cNvPr>
          <p:cNvGraphicFramePr/>
          <p:nvPr/>
        </p:nvGraphicFramePr>
        <p:xfrm>
          <a:off xmlns:a="http://schemas.openxmlformats.org/drawingml/2006/main" x="609600" y="2457450"/>
          <a:ext xmlns:a="http://schemas.openxmlformats.org/drawingml/2006/main" cx="109347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042678457438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3876C-C70E-4949-AF2A-E7267BE2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PPL на dev: 45.85 → 33.04. Один запуск, без повторов с другими seeds.</a:t>
            </a:r>
          </a:p>
        </p:txBody>
      </p:sp>
    </p:spTree>
    <p:extLst>
      <p:ext uri="{BB962C8B-B14F-4D97-AF65-F5344CB8AC3E}">
        <p14:creationId xmlns:p14="http://schemas.microsoft.com/office/powerpoint/2010/main" val="538500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ABEA-2FE8-40E2-AFFC-3DCAF893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E746-485B-4976-9580-38E9296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До исходного качества модель не дошла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D748-9B86-4F71-A372-A64D2769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В контексте 2048 PPL упала с 612.54 после удаления RoPE до 30.95.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8F09-590E-4422-8AA5-4F62850B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5E692-CB97-4106-9738-B5C019E1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1BD1E-7A68-4E92-9ACC-2DDA3370A6B0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347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2057400"/>
                <a:gridCol w="2057400"/>
                <a:gridCol w="2057400"/>
              </a:tblGrid>
              <a:tr h="6405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 / checkpoint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 PPL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4096 PPL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8192 PPL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RoPE без масштабирования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12.64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76.91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286.88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DroPE, шаг 8712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42.66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56.79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85.86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DroPE, шаг 18689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30.95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41.23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81.02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62A95-BBF1-40C8-867E-B3931BF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На длинных контекстах beta выбрана по dev. Для 8192 она изменилась</a:t>
            </a:r>
          </a:p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с 1.25 на 1.5 между этапами, поэтому эффект обучения отдельно не виден.</a:t>
            </a:r>
          </a:p>
        </p:txBody>
      </p:sp>
    </p:spTree>
    <p:extLst>
      <p:ext uri="{BB962C8B-B14F-4D97-AF65-F5344CB8AC3E}">
        <p14:creationId xmlns:p14="http://schemas.microsoft.com/office/powerpoint/2010/main" val="270277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7090B-F228-4BEC-A33E-5EFF460C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7C1D8-3FF8-4743-B4AC-A3D5A634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Без подбора beta результат гораздо хуже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0449A-E316-4432-9B5F-EE2EA357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Один финальный checkpoint, разные настройки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85E86-6A0B-4B53-8F21-BDA54576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A6C9C-519D-4DE5-A1A2-AA2EE3F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AE69C-C8E5-438C-9374-30343CFF5BB9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347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09850"/>
                <a:gridCol w="2609850"/>
              </a:tblGrid>
              <a:tr h="67865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Настройка DroPE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4096 PPL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8192 PPL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масштабирования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432.66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16 118.88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Beta по формуле статьи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80.94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1387.07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Beta, выбранная на dev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41.23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81.02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22373-30DF-4328-B6A8-0ADE1693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Dev выбрал 1.25 для 4096 и 1.5 для 8192. Подбор шёл на двух блоках.</a:t>
            </a:r>
          </a:p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На другом наборе текстов лучшая настройка может измениться.</a:t>
            </a:r>
          </a:p>
        </p:txBody>
      </p:sp>
    </p:spTree>
    <p:extLst>
      <p:ext uri="{BB962C8B-B14F-4D97-AF65-F5344CB8AC3E}">
        <p14:creationId xmlns:p14="http://schemas.microsoft.com/office/powerpoint/2010/main" val="793503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40B3C-68BE-4330-ACD7-C7CD7158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425CD-F4AC-408E-AE2F-B9793693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YaRN и Dynamic NTK оказались лучше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50F42-B26F-4F8D-BE80-9569B3A3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Они применены к исходной RoPE без дообучения. Test-блоки те же.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43A1B-A5DF-4D48-9389-7BE9313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DBC99-88BF-4B4B-88A3-EFD52FBB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010A90E-3AE7-40E6-8684-24259EE15D7D}"/>
              </a:ext>
            </a:extLst>
          </p:cNvPr>
          <p:cNvGraphicFramePr/>
          <p:nvPr/>
        </p:nvGraphicFramePr>
        <p:xfrm>
          <a:off xmlns:a="http://schemas.openxmlformats.org/drawingml/2006/main" x="609600" y="2466975"/>
          <a:ext xmlns:a="http://schemas.openxmlformats.org/drawingml/2006/main" cx="1093470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c7fb016ba04ae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FCFFB-D45B-457B-B283-383BEA1E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YaRN/NTK восстановлены из консоли. У YaRN был warning в метаданных.</a:t>
            </a:r>
          </a:p>
          <a:p xmlns:a="http://schemas.openxmlformats.org/drawingml/2006/main">
            <a:pPr>
              <a:defRPr sz="157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После правки скрипта повторного GPU-замера не было.</a:t>
            </a:r>
          </a:p>
        </p:txBody>
      </p:sp>
    </p:spTree>
    <p:extLst>
      <p:ext uri="{BB962C8B-B14F-4D97-AF65-F5344CB8AC3E}">
        <p14:creationId xmlns:p14="http://schemas.microsoft.com/office/powerpoint/2010/main" val="13511687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9A2BC-B6BC-4E90-9C53-64269DBD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D4C6-968D-47C1-82DD-BA168BE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Спрятанное число DroPE не нашёл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86E9-D27B-465C-9361-5EEFFA76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Даже в коротком контроле на 512 токенов результат нулевой.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E08F9-6C05-4378-8E1C-0B4B6BBF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2247D-E7C4-4986-B7C1-2CFAB3C2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6EEAB-2EB1-404F-AEA6-6B6C2D7072A2}"/>
              </a:ext>
            </a:extLst>
          </p:cNvPr>
          <p:cNvGraphicFramePr/>
          <p:nvPr/>
        </p:nvGraphicFramePr>
        <p:xfrm>
          <a:off xmlns:a="http://schemas.openxmlformats.org/drawingml/2006/main" x="609600" y="24955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705100"/>
                <a:gridCol w="270510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Тест NIAH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RoPE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512, глубина .9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10/12 (83.3%)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0/12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2048, глубина 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3/8 (37.5%)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2048, глубина .5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4/8 (50.0%)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0/8</a:t>
                      </a:r>
                    </a:p>
                  </a:txBody>
                  <a:tcPr marL="91440" marR="91440" marT="45720" marB="45720">
                    <a:solidFill>
                      <a:srgbClr val="F5F5F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2048, глубина 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8/8 (100%)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Всего на 2048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15/24 (62.5%)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0/24</a:t>
                      </a:r>
                    </a:p>
                  </a:txBody>
                  <a:tcPr marL="91440" marR="91440" marT="45720" marB="4572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A242F-E2F1-48AB-B15C-014D0BC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Мало примеров, часть текстов и шаблонов повторяется. Counts сохранились</a:t>
            </a:r>
          </a:p>
          <a:p xmlns:a="http://schemas.openxmlformats.org/drawingml/2006/main">
            <a:pPr>
              <a:defRPr sz="165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в консоли, а исходные ответы дополнительного запуска потеряны.</a:t>
            </a:r>
          </a:p>
        </p:txBody>
      </p:sp>
    </p:spTree>
    <p:extLst>
      <p:ext uri="{BB962C8B-B14F-4D97-AF65-F5344CB8AC3E}">
        <p14:creationId xmlns:p14="http://schemas.microsoft.com/office/powerpoint/2010/main" val="529604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3287-0692-4C83-BD3D-22DB9B88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7144C-725D-4FB3-9DD1-4BBFD57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Что я проверил и чего пока не хватает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1385-262D-4E10-9366-BD5D19A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Проверки помогают сузить проблему, но не объясняют её целиком.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0C203-BF4F-4687-8267-5B79CBA3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A5A61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C3A0-0BF6-4006-AB3C-5A5397C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94F29-B1EF-406E-B253-BB640C9E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Исправлен KV-cache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E9C4A-2A3D-4DFA-BB02-75FC380B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Расхождение logits с кэшем и без него: примерно 1.503 → 0.0173.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Разница CE между SDPA и eager: около 7.3e−5.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9B015-EF45-43EA-B22D-0E1D75D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Остаются ограничения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487F4-6B0E-481C-89CC-9E4D4793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537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Нет RoPE-дообучения на том же числе токенов и повторов по seeds.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Авторский checkpoint через мой evaluator не проверялся.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11111"/>
                </a:solidFill>
                <a:latin typeface="DejaVu Sans"/>
                <a:ea typeface="DejaVu Sans"/>
                <a:cs typeface="DejaVu Sans"/>
              </a:rPr>
              <a:t>Публичную ссылку на обученные веса ещё нужно добавить.</a:t>
            </a:r>
          </a:p>
        </p:txBody>
      </p:sp>
    </p:spTree>
    <p:extLst>
      <p:ext uri="{BB962C8B-B14F-4D97-AF65-F5344CB8AC3E}">
        <p14:creationId xmlns:p14="http://schemas.microsoft.com/office/powerpoint/2010/main" val="7600805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72FAB-4603-42C2-993E-D6A82980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4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C554E-6AE3-400B-B1BC-13CAFAFF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34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Что я могу сказать по результатам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E008F-6E50-49BA-975D-805453B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4C4CC"/>
                </a:solidFill>
                <a:latin typeface="DejaVu Sans"/>
                <a:ea typeface="DejaVu Sans"/>
                <a:cs typeface="DejaVu Sans"/>
              </a:rPr>
              <a:t>Восстановление качества началось, но его оказалось недостаточно.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64EF7-22CE-4CA9-B73B-87C7EDE0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A8B0"/>
                </a:solidFill>
                <a:latin typeface="DejaVu Sans"/>
                <a:ea typeface="DejaVu Sans"/>
                <a:cs typeface="DejaVu Sans"/>
              </a:rPr>
              <a:t>DroPE / ДЗ №2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203C6-E3C2-4966-B31D-3F193ED1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19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E1926-3C70-4F04-86DA-BD7B718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87973-3802-448D-BE8E-EA1B4935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76525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Языковое качество улучшилось.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Исходную RoPE модель пока не догнала.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2CB08-56D4-439E-8B97-82A8BB2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CB044-A018-4748-9857-9907864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57625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На длинном LM-тесте помог подбор beta.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YaRN и Dynamic NTK всё равно лучше.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3B803-4D90-425F-A1C4-FB3F77F5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A541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E1D4E-4A58-42DF-A521-2DB871E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38725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Поиск факта в тексте не восстановился.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При таком бюджете это не опровергает статью.</a:t>
            </a:r>
          </a:p>
        </p:txBody>
      </p:sp>
    </p:spTree>
    <p:extLst>
      <p:ext uri="{BB962C8B-B14F-4D97-AF65-F5344CB8AC3E}">
        <p14:creationId xmlns:p14="http://schemas.microsoft.com/office/powerpoint/2010/main" val="1790911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2026-10-11T10:00:37.1980000Z</dcterms:created>
  <dcterms:modified xsi:type="dcterms:W3CDTF">2026-10-11T10:00:37.1980000Z</dcterms:modified>
</coreProperties>
</file>