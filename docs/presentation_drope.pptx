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>
      <p:cViewPr varScale="1">
        <p:scale>
          <a:sx n="119" d="100"/>
          <a:sy n="119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Ошибка на </a:t>
            </a:r>
            <a:r>
              <a:rPr lang="en" sz="160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dev </a:t>
            </a:r>
            <a:r>
              <a:rPr lang="ru-RU" sz="160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во втором этапе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DroPE</c:v>
          </c:tx>
          <c:spPr>
            <a:ln w="28575">
              <a:solidFill>
                <a:srgbClr val="FA5416"/>
              </a:solidFill>
            </a:ln>
          </c:spPr>
          <c:marker>
            <c:symbol val="circle"/>
            <c:size val="5"/>
            <c:spPr>
              <a:solidFill>
                <a:srgbClr val="FA5416"/>
              </a:solidFill>
            </c:spPr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8712</c:v>
                </c:pt>
                <c:pt idx="1">
                  <c:v>9000</c:v>
                </c:pt>
                <c:pt idx="2">
                  <c:v>10000</c:v>
                </c:pt>
                <c:pt idx="3">
                  <c:v>11000</c:v>
                </c:pt>
                <c:pt idx="4">
                  <c:v>12000</c:v>
                </c:pt>
                <c:pt idx="5">
                  <c:v>13000</c:v>
                </c:pt>
                <c:pt idx="6">
                  <c:v>14000</c:v>
                </c:pt>
                <c:pt idx="7">
                  <c:v>15000</c:v>
                </c:pt>
                <c:pt idx="8">
                  <c:v>16000</c:v>
                </c:pt>
                <c:pt idx="9">
                  <c:v>17000</c:v>
                </c:pt>
                <c:pt idx="10">
                  <c:v>18000</c:v>
                </c:pt>
                <c:pt idx="11">
                  <c:v>18689</c:v>
                </c:pt>
              </c:numCache>
            </c:numRef>
          </c:xVal>
          <c:yVal>
            <c:numRef>
              <c:f>'Chart Data'!$B$2:$B$13</c:f>
              <c:numCache>
                <c:formatCode>General</c:formatCode>
                <c:ptCount val="12"/>
                <c:pt idx="0">
                  <c:v>3.82544</c:v>
                </c:pt>
                <c:pt idx="1">
                  <c:v>3.8081809999999998</c:v>
                </c:pt>
                <c:pt idx="2">
                  <c:v>3.76417</c:v>
                </c:pt>
                <c:pt idx="3">
                  <c:v>3.7147000000000001</c:v>
                </c:pt>
                <c:pt idx="4">
                  <c:v>3.6786439999999998</c:v>
                </c:pt>
                <c:pt idx="5">
                  <c:v>3.6397759999999999</c:v>
                </c:pt>
                <c:pt idx="6">
                  <c:v>3.613378</c:v>
                </c:pt>
                <c:pt idx="7">
                  <c:v>3.577671</c:v>
                </c:pt>
                <c:pt idx="8">
                  <c:v>3.5574669999999999</c:v>
                </c:pt>
                <c:pt idx="9">
                  <c:v>3.5263879999999999</c:v>
                </c:pt>
                <c:pt idx="10">
                  <c:v>3.5137230000000002</c:v>
                </c:pt>
                <c:pt idx="11">
                  <c:v>3.4976400000000001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449-A045-9E85-35104DEF7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.9"/>
          <c:min val="3.4"/>
        </c:scaling>
        <c:delete val="0"/>
        <c:axPos val="l"/>
        <c:majorGridlines>
          <c:spPr>
            <a:ln w="9525">
              <a:solidFill>
                <a:srgbClr val="E6E6F0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666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defRPr>
            </a:pPr>
            <a:endParaRPr lang="ru-RU"/>
          </a:p>
        </c:txPr>
        <c:crossAx val="48650112"/>
        <c:crosses val="autoZero"/>
        <c:crossBetween val="midCat"/>
        <c:majorUnit val="0.1"/>
      </c:valAx>
      <c:valAx>
        <c:axId val="48650112"/>
        <c:scaling>
          <c:orientation val="minMax"/>
          <c:max val="19000"/>
          <c:min val="8000"/>
        </c:scaling>
        <c:delete val="0"/>
        <c:axPos val="b"/>
        <c:title>
          <c:tx>
            <c:rich>
              <a:bodyPr/>
              <a:lstStyle/>
              <a:p>
                <a:r>
                  <a:rPr lang="ru-RU" sz="1400" dirty="0">
                    <a:latin typeface="Arial" panose="020B0604020202020204" pitchFamily="34" charset="0"/>
                    <a:ea typeface="DejaVu Sans"/>
                    <a:cs typeface="Arial" panose="020B0604020202020204" pitchFamily="34" charset="0"/>
                  </a:rPr>
                  <a:t>Шаг обучения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666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defRPr>
            </a:pPr>
            <a:endParaRPr lang="ru-RU"/>
          </a:p>
        </c:txPr>
        <c:crossAx val="48672768"/>
        <c:crosses val="autoZero"/>
        <c:crossBetween val="midCat"/>
        <c:majorUnit val="2000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Ошибка предсказания следующего токена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DroPE, beta с dev</c:v>
          </c:tx>
          <c:spPr>
            <a:ln w="38100">
              <a:solidFill>
                <a:srgbClr val="FA5416"/>
              </a:solidFill>
            </a:ln>
          </c:spPr>
          <c:marker>
            <c:symbol val="circle"/>
            <c:size val="7"/>
          </c:marker>
          <c:cat>
            <c:numRef>
              <c:f>'Chart Data'!$A$2:$A$3</c:f>
              <c:numCache>
                <c:formatCode>General</c:formatCode>
                <c:ptCount val="2"/>
                <c:pt idx="0">
                  <c:v>4096</c:v>
                </c:pt>
                <c:pt idx="1">
                  <c:v>8192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3.7192050000000001</c:v>
                </c:pt>
                <c:pt idx="1">
                  <c:v>4.3947089999999998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218-BA4D-9E4B-87252771062D}"/>
            </c:ext>
          </c:extLst>
        </c:ser>
        <c:ser>
          <c:idx val="1"/>
          <c:order val="1"/>
          <c:tx>
            <c:v>RoPE без scaling</c:v>
          </c:tx>
          <c:spPr>
            <a:ln w="28575">
              <a:solidFill>
                <a:srgbClr val="111111"/>
              </a:solidFill>
            </a:ln>
          </c:spPr>
          <c:marker>
            <c:symbol val="square"/>
            <c:size val="6"/>
          </c:marker>
          <c:cat>
            <c:numRef>
              <c:f>'Chart Data'!$C$2:$C$3</c:f>
              <c:numCache>
                <c:formatCode>General</c:formatCode>
                <c:ptCount val="2"/>
                <c:pt idx="0">
                  <c:v>4096</c:v>
                </c:pt>
                <c:pt idx="1">
                  <c:v>8192</c:v>
                </c:pt>
              </c:numCache>
            </c:num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4.3426539999999996</c:v>
                </c:pt>
                <c:pt idx="1">
                  <c:v>5.6590530000000001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218-BA4D-9E4B-87252771062D}"/>
            </c:ext>
          </c:extLst>
        </c:ser>
        <c:ser>
          <c:idx val="2"/>
          <c:order val="2"/>
          <c:tx>
            <c:v>Dynamic NTK</c:v>
          </c:tx>
          <c:spPr>
            <a:ln w="28575">
              <a:solidFill>
                <a:srgbClr val="7C7C84"/>
              </a:solidFill>
            </a:ln>
          </c:spPr>
          <c:marker>
            <c:symbol val="triangle"/>
            <c:size val="7"/>
          </c:marker>
          <c:cat>
            <c:numRef>
              <c:f>'Chart Data'!$E$2:$E$3</c:f>
              <c:numCache>
                <c:formatCode>General</c:formatCode>
                <c:ptCount val="2"/>
                <c:pt idx="0">
                  <c:v>4096</c:v>
                </c:pt>
                <c:pt idx="1">
                  <c:v>8192</c:v>
                </c:pt>
              </c:numCache>
            </c:numRef>
          </c:cat>
          <c:val>
            <c:numRef>
              <c:f>'Chart Data'!$F$2:$F$3</c:f>
              <c:numCache>
                <c:formatCode>General</c:formatCode>
                <c:ptCount val="2"/>
                <c:pt idx="0">
                  <c:v>2.522373</c:v>
                </c:pt>
                <c:pt idx="1">
                  <c:v>2.9578899999999999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218-BA4D-9E4B-87252771062D}"/>
            </c:ext>
          </c:extLst>
        </c:ser>
        <c:ser>
          <c:idx val="3"/>
          <c:order val="3"/>
          <c:tx>
            <c:v>YaRN</c:v>
          </c:tx>
          <c:spPr>
            <a:ln w="28575">
              <a:solidFill>
                <a:srgbClr val="B0B0B8"/>
              </a:solidFill>
            </a:ln>
          </c:spPr>
          <c:marker>
            <c:symbol val="diamond"/>
            <c:size val="7"/>
          </c:marker>
          <c:cat>
            <c:numRef>
              <c:f>'Chart Data'!$G$2:$G$3</c:f>
              <c:numCache>
                <c:formatCode>General</c:formatCode>
                <c:ptCount val="2"/>
                <c:pt idx="0">
                  <c:v>4096</c:v>
                </c:pt>
                <c:pt idx="1">
                  <c:v>8192</c:v>
                </c:pt>
              </c:numCache>
            </c:numRef>
          </c:cat>
          <c:val>
            <c:numRef>
              <c:f>'Chart Data'!$H$2:$H$3</c:f>
              <c:numCache>
                <c:formatCode>General</c:formatCode>
                <c:ptCount val="2"/>
                <c:pt idx="0">
                  <c:v>2.4915500000000002</c:v>
                </c:pt>
                <c:pt idx="1">
                  <c:v>2.4939819999999999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9218-BA4D-9E4B-8725277106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ru-RU" sz="1400">
                    <a:latin typeface="Arial" panose="020B0604020202020204" pitchFamily="34" charset="0"/>
                    <a:ea typeface="DejaVu Sans"/>
                    <a:cs typeface="Arial" panose="020B0604020202020204" pitchFamily="34" charset="0"/>
                  </a:rPr>
                  <a:t>Длина контекста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00">
                <a:solidFill>
                  <a:srgbClr val="66666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E6E6F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400" dirty="0">
                    <a:latin typeface="Arial" panose="020B0604020202020204" pitchFamily="34" charset="0"/>
                    <a:ea typeface="DejaVu Sans"/>
                    <a:cs typeface="Arial" panose="020B0604020202020204" pitchFamily="34" charset="0"/>
                  </a:rPr>
                  <a:t>CE</a:t>
                </a:r>
                <a:endParaRPr lang="ru-RU" sz="1425" dirty="0">
                  <a:latin typeface="Arial" panose="020B0604020202020204" pitchFamily="34" charset="0"/>
                  <a:ea typeface="DejaVu Sans"/>
                  <a:cs typeface="Arial" panose="020B0604020202020204" pitchFamily="34" charset="0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endParaRPr lang="ru-RU"/>
          </a:p>
        </c:txPr>
        <c:crossAx val="48650112"/>
        <c:crosses val="autoZero"/>
        <c:crossBetween val="between"/>
        <c:majorUnit val="1"/>
      </c:valAx>
    </c:plotArea>
    <c:legend>
      <c:legendPos val="b"/>
      <c:overlay val="0"/>
      <c:txPr>
        <a:bodyPr anchorCtr="1"/>
        <a:lstStyle/>
        <a:p>
          <a:pPr>
            <a:defRPr sz="1400">
              <a:latin typeface="Arial" panose="020B0604020202020204" pitchFamily="34" charset="0"/>
              <a:ea typeface="DejaVu Sans"/>
              <a:cs typeface="Arial" panose="020B0604020202020204" pitchFamily="34" charset="0"/>
            </a:defRPr>
          </a:pPr>
          <a:endParaRPr lang="ru-RU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9A180B-68C9-4348-9409-1969BD77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5117A39-F8F9-4EF1-AFC0-A6E2A1CC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506302E-7DCA-4A62-9212-AEEA07EE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1068A09-01A3-481C-BC0E-5A61FC271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97B259E-FDF3-415F-91B2-66EDA5FEF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C9E9772-B199-4FC0-A598-66F1CE7F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BEA1374-B194-4F2A-A076-19FC5F87F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D7A8E9C-AE43-4B9C-85E6-DF759E5835E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B80A49B-0D62-41AB-BA71-1CA191E35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9C7AF0A-FD7D-408F-B599-28D80FB69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C7A846E-C2BF-4980-9224-059E9826D52E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102870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96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96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9600" b="1" dirty="0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DroPE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373B965-59CF-43A6-A793-DF0DAF6506FF}"/>
              </a:ext>
            </a:extLst>
          </p:cNvPr>
          <p:cNvSpPr>
            <a:spLocks noGrp="1"/>
          </p:cNvSpPr>
          <p:nvPr/>
        </p:nvSpPr>
        <p:spPr>
          <a:xfrm>
            <a:off x="647700" y="2876550"/>
            <a:ext cx="10668000" cy="1352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Что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будет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,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если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убрать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RoPE</a:t>
            </a:r>
            <a:endParaRPr sz="3200" b="1" dirty="0">
              <a:solidFill>
                <a:srgbClr val="FFFFFF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  <a:p>
            <a: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из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уже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обученной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модели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?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C37874-5CF0-4B91-9606-0EFEA78191E0}"/>
              </a:ext>
            </a:extLst>
          </p:cNvPr>
          <p:cNvSpPr>
            <a:spLocks noGrp="1"/>
          </p:cNvSpPr>
          <p:nvPr/>
        </p:nvSpPr>
        <p:spPr>
          <a:xfrm>
            <a:off x="647700" y="465772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Разбор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статьи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эксперимент</a:t>
            </a:r>
            <a:endParaRPr sz="2000" b="0" dirty="0">
              <a:solidFill>
                <a:srgbClr val="FFFFFF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9E66C6F-D7F7-48C9-BD68-858AB61EBD4C}"/>
              </a:ext>
            </a:extLst>
          </p:cNvPr>
          <p:cNvSpPr>
            <a:spLocks noGrp="1"/>
          </p:cNvSpPr>
          <p:nvPr/>
        </p:nvSpPr>
        <p:spPr>
          <a:xfrm>
            <a:off x="647700" y="521017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350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pPr>
            <a:r>
              <a:rPr sz="1400" b="0" dirty="0">
                <a:solidFill>
                  <a:srgbClr val="B8B8C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Extending the Context of Pretrained LLMs by Dropping Their Positional Embeddings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2CFFB1C-A941-4A48-8A0E-F7D1D8398430}"/>
              </a:ext>
            </a:extLst>
          </p:cNvPr>
          <p:cNvSpPr>
            <a:spLocks noGrp="1"/>
          </p:cNvSpPr>
          <p:nvPr/>
        </p:nvSpPr>
        <p:spPr>
          <a:xfrm>
            <a:off x="647700" y="5686425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575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pPr>
            <a:r>
              <a:rPr sz="1400" b="0" dirty="0">
                <a:solidFill>
                  <a:srgbClr val="B8B8C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Gelberg, Eguchi, Akiba, Cetin / Sakana AI </a:t>
            </a:r>
            <a:r>
              <a:rPr sz="1400" b="0" dirty="0" err="1">
                <a:solidFill>
                  <a:srgbClr val="B8B8C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</a:t>
            </a:r>
            <a:r>
              <a:rPr sz="1400" b="0" dirty="0">
                <a:solidFill>
                  <a:srgbClr val="B8B8C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Oxford / 2025</a:t>
            </a:r>
          </a:p>
        </p:txBody>
      </p:sp>
    </p:spTree>
    <p:extLst>
      <p:ext uri="{BB962C8B-B14F-4D97-AF65-F5344CB8AC3E}">
        <p14:creationId xmlns:p14="http://schemas.microsoft.com/office/powerpoint/2010/main" val="2112377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3DD80D9-14D2-4F7E-AAFA-8DEA370AD51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38150" cy="76200"/>
          </a:xfrm>
          <a:prstGeom prst="rect">
            <a:avLst/>
          </a:prstGeom>
          <a:solidFill>
            <a:srgbClr val="FA5416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1C0E125-56D8-4EF4-83E3-EBA066783774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347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Почему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модель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теряется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длинном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тексте</a:t>
            </a:r>
            <a:endParaRPr sz="3200" b="1" dirty="0">
              <a:solidFill>
                <a:srgbClr val="111111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4DF513D-6362-4708-8856-4C85D826B56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При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обучении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RoPE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помогает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учитывать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,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где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находятся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токены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7FAAFF0-D34C-4413-B9B3-924061A83AFC}"/>
              </a:ext>
            </a:extLst>
          </p:cNvPr>
          <p:cNvSpPr>
            <a:spLocks noGrp="1"/>
          </p:cNvSpPr>
          <p:nvPr/>
        </p:nvSpPr>
        <p:spPr>
          <a:xfrm>
            <a:off x="10877550" y="6419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872E07D-297D-4DFF-89EB-1EED9AE93E20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80962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dirty="0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1B8B199-32B6-47F6-A724-97F9C990DC4F}"/>
              </a:ext>
            </a:extLst>
          </p:cNvPr>
          <p:cNvSpPr>
            <a:spLocks noGrp="1"/>
          </p:cNvSpPr>
          <p:nvPr/>
        </p:nvSpPr>
        <p:spPr>
          <a:xfrm>
            <a:off x="1609725" y="2609850"/>
            <a:ext cx="9715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В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привычном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контексте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это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полезная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подсказка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C5598E8-95D3-46AA-9C68-FAB33597D11E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80962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34F435D-06DE-44E5-951D-DF048B715EE1}"/>
              </a:ext>
            </a:extLst>
          </p:cNvPr>
          <p:cNvSpPr>
            <a:spLocks noGrp="1"/>
          </p:cNvSpPr>
          <p:nvPr/>
        </p:nvSpPr>
        <p:spPr>
          <a:xfrm>
            <a:off x="1609725" y="3476625"/>
            <a:ext cx="97155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За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пределами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обучающей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длины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позиционные</a:t>
            </a:r>
            <a:endParaRPr sz="2000" b="0" dirty="0">
              <a:solidFill>
                <a:srgbClr val="111111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  <a:p>
            <a: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зависимости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меняются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Качество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может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упасть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34D6C83-DAEF-4C3E-BD35-EC8A9F050126}"/>
              </a:ext>
            </a:extLst>
          </p:cNvPr>
          <p:cNvSpPr>
            <a:spLocks noGrp="1"/>
          </p:cNvSpPr>
          <p:nvPr/>
        </p:nvSpPr>
        <p:spPr>
          <a:xfrm>
            <a:off x="609600" y="4676775"/>
            <a:ext cx="80962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293D56F-A02C-4D7C-8E98-12B5E9AF8388}"/>
              </a:ext>
            </a:extLst>
          </p:cNvPr>
          <p:cNvSpPr>
            <a:spLocks noGrp="1"/>
          </p:cNvSpPr>
          <p:nvPr/>
        </p:nvSpPr>
        <p:spPr>
          <a:xfrm>
            <a:off x="1609725" y="4676775"/>
            <a:ext cx="97155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Авторы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проверяют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,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можно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ли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после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обучения</a:t>
            </a:r>
            <a:endParaRPr sz="2000" b="0" dirty="0">
              <a:solidFill>
                <a:srgbClr val="111111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  <a:p>
            <a: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отказаться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от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этой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подсказки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638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74F5338-F405-4234-87CA-0A0B132474B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38150" cy="76200"/>
          </a:xfrm>
          <a:prstGeom prst="rect">
            <a:avLst/>
          </a:prstGeom>
          <a:solidFill>
            <a:srgbClr val="FA5416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0C203A-2D3A-4F68-998C-1BFC597B402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347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Что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делают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авторы</a:t>
            </a:r>
            <a:endParaRPr sz="3200" b="1" dirty="0">
              <a:solidFill>
                <a:srgbClr val="111111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40484C-8BF1-4C80-8EEF-9BA5D7E282AF}"/>
              </a:ext>
            </a:extLst>
          </p:cNvPr>
          <p:cNvSpPr>
            <a:spLocks noGrp="1"/>
          </p:cNvSpPr>
          <p:nvPr/>
        </p:nvSpPr>
        <p:spPr>
          <a:xfrm>
            <a:off x="10877550" y="6419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03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90752D7-F469-4C40-A500-2EFF56DE47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7482228"/>
              </p:ext>
            </p:extLst>
          </p:nvPr>
        </p:nvGraphicFramePr>
        <p:xfrm>
          <a:off x="609600" y="2476500"/>
          <a:ext cx="10934700" cy="3152775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7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555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Шаг</a:t>
                      </a:r>
                      <a:endParaRPr sz="16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DejaVu Sans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Что меняется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55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1. Убрать RoPE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Отключить позиционное вращение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55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2. Нормировать Q и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Использовать QKNoPE для SmolLM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55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3. Дать модели адаптироваться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Дообучить на привычных 2048 токенах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55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4. Проверить длинный контекст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Увеличить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длину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только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при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оценке</a:t>
                      </a:r>
                      <a:endParaRPr sz="1600" b="0" dirty="0">
                        <a:solidFill>
                          <a:srgbClr val="111111"/>
                        </a:solidFill>
                        <a:latin typeface="Arial" panose="020B0604020202020204" pitchFamily="34" charset="0"/>
                        <a:ea typeface="DejaVu Sans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77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19E494-8FA1-4D09-82A2-78E7D588B69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38150" cy="76200"/>
          </a:xfrm>
          <a:prstGeom prst="rect">
            <a:avLst/>
          </a:prstGeom>
          <a:solidFill>
            <a:srgbClr val="FA5416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B9DCD30-5CA3-4FA0-B421-F4382369F5A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347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</a:t>
            </a:r>
            <a:r>
              <a:rPr sz="315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длинном</a:t>
            </a:r>
            <a:r>
              <a:rPr sz="315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15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контексте</a:t>
            </a:r>
            <a:r>
              <a:rPr sz="315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15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помогает</a:t>
            </a:r>
            <a:r>
              <a:rPr sz="315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beta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1648ACA-47E9-4948-BA8B-70D4010AE7B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Больше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ключей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в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attention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может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размывать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распределение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вероятности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90D76D1-03F0-4945-9346-DE039A07DECF}"/>
              </a:ext>
            </a:extLst>
          </p:cNvPr>
          <p:cNvSpPr>
            <a:spLocks noGrp="1"/>
          </p:cNvSpPr>
          <p:nvPr/>
        </p:nvSpPr>
        <p:spPr>
          <a:xfrm>
            <a:off x="10877550" y="6419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2A488E-28D2-40C2-895D-889F602F74C1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Attention = </a:t>
            </a:r>
            <a:r>
              <a:rPr sz="28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softmax</a:t>
            </a:r>
            <a:r>
              <a:rPr sz="28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( β · QKᵀ / √d + mask ) V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09E2148-C36E-4E46-8999-A8F02CD2DF51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75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pPr>
            <a:r>
              <a:rPr sz="16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Формула</a:t>
            </a:r>
            <a:r>
              <a:rPr sz="16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авторов</a:t>
            </a:r>
            <a:r>
              <a:rPr sz="16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для</a:t>
            </a:r>
            <a:r>
              <a:rPr sz="16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SmolLM</a:t>
            </a:r>
            <a:endParaRPr sz="1600" b="0" dirty="0">
              <a:solidFill>
                <a:srgbClr val="C4C4CC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C4C8B64-3870-4684-BC57-1E79C8AA742B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109537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625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625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dirty="0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β(L) = 1 + 0.103 · ln(max(1, L / 2048))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8A1EE1E-B245-45BF-8980-1A606960CB57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Я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проверил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эту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формулу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отдельно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подобрал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beta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dev.</a:t>
            </a:r>
          </a:p>
        </p:txBody>
      </p:sp>
    </p:spTree>
    <p:extLst>
      <p:ext uri="{BB962C8B-B14F-4D97-AF65-F5344CB8AC3E}">
        <p14:creationId xmlns:p14="http://schemas.microsoft.com/office/powerpoint/2010/main" val="1544025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8412E1-844B-4FA7-9209-128A20DA924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38150" cy="76200"/>
          </a:xfrm>
          <a:prstGeom prst="rect">
            <a:avLst/>
          </a:prstGeom>
          <a:solidFill>
            <a:srgbClr val="FA5416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7BC0734-9901-416C-845A-2F3F4AEFE3F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347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Какие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результаты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получили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авторы</a:t>
            </a:r>
            <a:endParaRPr sz="3200" b="1" dirty="0">
              <a:solidFill>
                <a:srgbClr val="111111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4A365C-CF57-4452-B299-A2B68507419A}"/>
              </a:ext>
            </a:extLst>
          </p:cNvPr>
          <p:cNvSpPr>
            <a:spLocks noGrp="1"/>
          </p:cNvSpPr>
          <p:nvPr/>
        </p:nvSpPr>
        <p:spPr>
          <a:xfrm>
            <a:off x="10877550" y="6419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05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2A552E3-99A7-45D9-9D61-F0E9F277E1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4103822"/>
              </p:ext>
            </p:extLst>
          </p:nvPr>
        </p:nvGraphicFramePr>
        <p:xfrm>
          <a:off x="609600" y="2476500"/>
          <a:ext cx="10934700" cy="3048000"/>
        </p:xfrm>
        <a:graphic>
          <a:graphicData uri="http://schemas.openxmlformats.org/drawingml/2006/table">
            <a:tbl>
              <a:tblPr/>
              <a:tblGrid>
                <a:gridCol w="423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Эксперимент</a:t>
                      </a:r>
                      <a:endParaRPr sz="16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DejaVu Sans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Результат статьи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Обучение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с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нуля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, Figure 2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14K шагов RoPE + 2K DroPE дают качество</a:t>
                      </a:r>
                    </a:p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RoPE, обученной 16K шагов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NoPE с нуля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При том же бюджете уступает DroPE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Готовые модели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Адаптация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на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коротком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контексте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,</a:t>
                      </a:r>
                    </a:p>
                    <a:p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затем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проверка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LM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и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NIAH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на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длинном</a:t>
                      </a:r>
                      <a:endParaRPr sz="1600" b="0" dirty="0">
                        <a:solidFill>
                          <a:srgbClr val="111111"/>
                        </a:solidFill>
                        <a:latin typeface="Arial" panose="020B0604020202020204" pitchFamily="34" charset="0"/>
                        <a:ea typeface="DejaVu Sans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55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E1452DC-8BCD-4CAF-9D26-82BFDAE666B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38150" cy="76200"/>
          </a:xfrm>
          <a:prstGeom prst="rect">
            <a:avLst/>
          </a:prstGeom>
          <a:solidFill>
            <a:srgbClr val="FA5416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656A5A-A983-4BAC-B19F-B91199C00DD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347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 что хватило двух T4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6530DD-F62A-4E7E-817C-014E6C207A62}"/>
              </a:ext>
            </a:extLst>
          </p:cNvPr>
          <p:cNvSpPr>
            <a:spLocks noGrp="1"/>
          </p:cNvSpPr>
          <p:nvPr/>
        </p:nvSpPr>
        <p:spPr>
          <a:xfrm>
            <a:off x="10877550" y="6419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06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2DA9C64-7687-4E0F-887D-E512E40E82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734704"/>
              </p:ext>
            </p:extLst>
          </p:nvPr>
        </p:nvGraphicFramePr>
        <p:xfrm>
          <a:off x="609600" y="2447925"/>
          <a:ext cx="10934700" cy="323850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Настройка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Статья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Мой запуск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Длина при адаптации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2048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2048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Входные токены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31.46–125.8 млрд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0.3062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млрд</a:t>
                      </a:r>
                      <a:endParaRPr sz="1600" b="0" dirty="0">
                        <a:solidFill>
                          <a:srgbClr val="111111"/>
                        </a:solidFill>
                        <a:latin typeface="Arial" panose="020B0604020202020204" pitchFamily="34" charset="0"/>
                        <a:ea typeface="DejaVu Sans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Batch / максимальный LR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512 / 1e−3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8 / 3e−5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Точность / изменение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bf16 / cosine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fp16 / постоянный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Текст для NIAH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Paul Graham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FineWeb</a:t>
                      </a:r>
                      <a:endParaRPr sz="1600" b="0" dirty="0">
                        <a:solidFill>
                          <a:srgbClr val="111111"/>
                        </a:solidFill>
                        <a:latin typeface="Arial" panose="020B0604020202020204" pitchFamily="34" charset="0"/>
                        <a:ea typeface="DejaVu Sans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3794FEB-A80C-4FC1-BC2B-20106C62D96A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347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Мой</a:t>
            </a:r>
            <a:r>
              <a:rPr sz="16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бюджет</a:t>
            </a:r>
            <a:r>
              <a:rPr sz="16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: </a:t>
            </a:r>
            <a:r>
              <a:rPr sz="16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около</a:t>
            </a:r>
            <a:r>
              <a:rPr sz="16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0.97% </a:t>
            </a:r>
            <a:r>
              <a:rPr sz="16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от</a:t>
            </a:r>
            <a:r>
              <a:rPr sz="16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самого</a:t>
            </a:r>
            <a:r>
              <a:rPr sz="16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малого</a:t>
            </a:r>
            <a:r>
              <a:rPr sz="16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сопоставимого</a:t>
            </a:r>
            <a:r>
              <a:rPr sz="16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запуска</a:t>
            </a:r>
            <a:r>
              <a:rPr sz="16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72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3419319-A745-4F60-9CDA-149E75BA1BF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38150" cy="76200"/>
          </a:xfrm>
          <a:prstGeom prst="rect">
            <a:avLst/>
          </a:prstGeom>
          <a:solidFill>
            <a:srgbClr val="FA5416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750A825-EB4F-4BAD-B7A0-35CF1351F1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347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Как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я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обучал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проверял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модель</a:t>
            </a:r>
            <a:endParaRPr sz="3200" b="1" dirty="0">
              <a:solidFill>
                <a:srgbClr val="111111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C9B1AFC-3FAB-4E96-B013-62CC397432A3}"/>
              </a:ext>
            </a:extLst>
          </p:cNvPr>
          <p:cNvSpPr>
            <a:spLocks noGrp="1"/>
          </p:cNvSpPr>
          <p:nvPr/>
        </p:nvSpPr>
        <p:spPr>
          <a:xfrm>
            <a:off x="10877550" y="6419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07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A0E2418-7E53-47A6-B20C-7D7F16A06CFD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dirty="0" err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Обучение</a:t>
            </a:r>
            <a:endParaRPr sz="2400" b="1" dirty="0">
              <a:solidFill>
                <a:srgbClr val="FA5416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AA3ED55-EBD3-40BC-A199-B1604BC670C5}"/>
              </a:ext>
            </a:extLst>
          </p:cNvPr>
          <p:cNvSpPr>
            <a:spLocks noGrp="1"/>
          </p:cNvSpPr>
          <p:nvPr/>
        </p:nvSpPr>
        <p:spPr>
          <a:xfrm>
            <a:off x="3381375" y="2628900"/>
            <a:ext cx="81724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SmolLM-360M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с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QKNoPE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: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сначала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8712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шагов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  <a:p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После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восстановления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состояния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продолжил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до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18689.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D2782D5-0E5C-4E02-8550-18ACB6A32502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dirty="0" err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Настройки</a:t>
            </a:r>
            <a:endParaRPr sz="2400" b="1" dirty="0">
              <a:solidFill>
                <a:srgbClr val="FA5416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1EB3C58-5976-4794-97B1-D5CE4DC1AE48}"/>
              </a:ext>
            </a:extLst>
          </p:cNvPr>
          <p:cNvSpPr>
            <a:spLocks noGrp="1"/>
          </p:cNvSpPr>
          <p:nvPr/>
        </p:nvSpPr>
        <p:spPr>
          <a:xfrm>
            <a:off x="3381375" y="3743325"/>
            <a:ext cx="81724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Две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T4,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microbatch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1,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accum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4,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общий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batch 8.</a:t>
            </a:r>
          </a:p>
          <a:p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Контекст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2048, LR 3e−5, fp16, ZeRO1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SDPA.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39B193E-7A98-4A6D-AD56-45777C679375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dirty="0" err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Данные</a:t>
            </a:r>
            <a:endParaRPr sz="2400" b="1" dirty="0">
              <a:solidFill>
                <a:srgbClr val="FA5416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4C5BBF-4A9F-4832-848F-4756F9139E05}"/>
              </a:ext>
            </a:extLst>
          </p:cNvPr>
          <p:cNvSpPr>
            <a:spLocks noGrp="1"/>
          </p:cNvSpPr>
          <p:nvPr/>
        </p:nvSpPr>
        <p:spPr>
          <a:xfrm>
            <a:off x="3381375" y="4857750"/>
            <a:ext cx="817245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Dev: 16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блоков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2048. Test: 8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блоков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8192.</a:t>
            </a:r>
          </a:p>
          <a:p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Для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коротких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тестов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взято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начало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тех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же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блоков</a:t>
            </a:r>
            <a:r>
              <a:rPr sz="2000" b="0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295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2178DCD-D74B-4D79-93B9-555BDD3AF57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38150" cy="76200"/>
          </a:xfrm>
          <a:prstGeom prst="rect">
            <a:avLst/>
          </a:prstGeom>
          <a:solidFill>
            <a:srgbClr val="FA5416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7D575C2-6ACE-400E-A6DC-89F0104E7C5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347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Дообучение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помогло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dev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83CFED-EAB6-4EE8-99B4-AD50D3BF367B}"/>
              </a:ext>
            </a:extLst>
          </p:cNvPr>
          <p:cNvSpPr>
            <a:spLocks noGrp="1"/>
          </p:cNvSpPr>
          <p:nvPr/>
        </p:nvSpPr>
        <p:spPr>
          <a:xfrm>
            <a:off x="10877550" y="6419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08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04764062-5CA3-46D3-8686-BFA811063D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264380"/>
              </p:ext>
            </p:extLst>
          </p:nvPr>
        </p:nvGraphicFramePr>
        <p:xfrm>
          <a:off x="609600" y="2038350"/>
          <a:ext cx="10934700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23876C-C70E-4949-AF2A-E7267BE26562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347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PPL </a:t>
            </a:r>
            <a:r>
              <a:rPr sz="16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</a:t>
            </a:r>
            <a:r>
              <a:rPr sz="16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dev: 45.85 → 33.04</a:t>
            </a:r>
          </a:p>
        </p:txBody>
      </p:sp>
    </p:spTree>
    <p:extLst>
      <p:ext uri="{BB962C8B-B14F-4D97-AF65-F5344CB8AC3E}">
        <p14:creationId xmlns:p14="http://schemas.microsoft.com/office/powerpoint/2010/main" val="53850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143ABEA-2FE8-40E2-AFFC-3DCAF8932A3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38150" cy="76200"/>
          </a:xfrm>
          <a:prstGeom prst="rect">
            <a:avLst/>
          </a:prstGeom>
          <a:solidFill>
            <a:srgbClr val="FA5416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4F3E746-485B-4976-9580-38E9296703E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347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До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исходного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качества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модель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не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дошла</a:t>
            </a:r>
            <a:endParaRPr sz="3200" b="1" dirty="0">
              <a:solidFill>
                <a:srgbClr val="111111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4CE8F09-590E-4422-8AA5-4F62850BCB7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DroPE / ДЗ №2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35E692-CB97-4106-9738-B5C019E17701}"/>
              </a:ext>
            </a:extLst>
          </p:cNvPr>
          <p:cNvSpPr>
            <a:spLocks noGrp="1"/>
          </p:cNvSpPr>
          <p:nvPr/>
        </p:nvSpPr>
        <p:spPr>
          <a:xfrm>
            <a:off x="10877550" y="6419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09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271BD1E-7A68-4E92-9ACC-2DDA3370A6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5396662"/>
              </p:ext>
            </p:extLst>
          </p:nvPr>
        </p:nvGraphicFramePr>
        <p:xfrm>
          <a:off x="609600" y="2571750"/>
          <a:ext cx="10934700" cy="2562224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55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Модель / checkpoint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2048 PPL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4096 PPL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8192 PPL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556"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RoPE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без</a:t>
                      </a:r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масштабирования</a:t>
                      </a:r>
                      <a:endParaRPr sz="1600" b="0" dirty="0">
                        <a:solidFill>
                          <a:srgbClr val="111111"/>
                        </a:solidFill>
                        <a:latin typeface="Arial" panose="020B0604020202020204" pitchFamily="34" charset="0"/>
                        <a:ea typeface="DejaVu Sans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12.64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76.91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286.88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5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DroPE, шаг 8712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42.66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56.79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85.86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5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DroPE, шаг 18689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30.95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41.23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81.02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7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777090B-F228-4BEC-A33E-5EFF460CC4D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38150" cy="76200"/>
          </a:xfrm>
          <a:prstGeom prst="rect">
            <a:avLst/>
          </a:prstGeom>
          <a:solidFill>
            <a:srgbClr val="FA5416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17C1D8-3FF8-4743-B4AC-A3D5A63458AE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347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Без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подбора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beta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результат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гораздо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хуже</a:t>
            </a:r>
            <a:endParaRPr sz="3200" b="1" dirty="0">
              <a:solidFill>
                <a:srgbClr val="111111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EA6C9C-519D-4DE5-A1A2-AA2EE3F6B38D}"/>
              </a:ext>
            </a:extLst>
          </p:cNvPr>
          <p:cNvSpPr>
            <a:spLocks noGrp="1"/>
          </p:cNvSpPr>
          <p:nvPr/>
        </p:nvSpPr>
        <p:spPr>
          <a:xfrm>
            <a:off x="10877550" y="6419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10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BCAE69C-C8E5-438C-9374-30343CFF5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797973"/>
              </p:ext>
            </p:extLst>
          </p:nvPr>
        </p:nvGraphicFramePr>
        <p:xfrm>
          <a:off x="609600" y="2571750"/>
          <a:ext cx="10934700" cy="2714624"/>
        </p:xfrm>
        <a:graphic>
          <a:graphicData uri="http://schemas.openxmlformats.org/drawingml/2006/table">
            <a:tbl>
              <a:tblPr/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656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Настройка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 DroPE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4096 PPL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8192 PPL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Без масштабирования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432.66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16 118.88</a:t>
                      </a:r>
                    </a:p>
                  </a:txBody>
                  <a:tcPr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Beta по формуле статьи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80.94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1387.07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Beta, выбранная на dev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41.23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111111"/>
                          </a:solidFill>
                          <a:latin typeface="Arial" panose="020B0604020202020204" pitchFamily="34" charset="0"/>
                          <a:ea typeface="DejaVu Sans"/>
                          <a:cs typeface="Arial" panose="020B0604020202020204" pitchFamily="34" charset="0"/>
                        </a:rPr>
                        <a:t>81.02</a:t>
                      </a:r>
                    </a:p>
                  </a:txBody>
                  <a:tcPr>
                    <a:solidFill>
                      <a:srgbClr val="FF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7022373-30DF-4328-B6A8-0ADE16933A8B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95375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Dev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выбрал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1.25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для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4096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1.5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для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8192.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Подбор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шёл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двух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блоках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  <a:p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другом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наборе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текстов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лучшая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настройка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может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6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измениться</a:t>
            </a:r>
            <a:r>
              <a:rPr sz="16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3503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1940B3C-68BE-4330-ACD7-C7CD7158A80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38150" cy="76200"/>
          </a:xfrm>
          <a:prstGeom prst="rect">
            <a:avLst/>
          </a:prstGeom>
          <a:solidFill>
            <a:srgbClr val="FA5416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11425CD-F4AC-408E-AE2F-B97936931E7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347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YaRN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Dynamic NTK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оказались</a:t>
            </a:r>
            <a:r>
              <a:rPr sz="3200" b="1" dirty="0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111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лучше</a:t>
            </a:r>
            <a:endParaRPr sz="3200" b="1" dirty="0">
              <a:solidFill>
                <a:srgbClr val="111111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B350F42-B26F-4F8D-BE80-9569B3A38D7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Они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применены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исходной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RoPE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без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дообучения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 Test-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блоки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те</a:t>
            </a:r>
            <a:r>
              <a:rPr sz="1800" b="0" dirty="0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5A5A6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же</a:t>
            </a:r>
            <a:endParaRPr sz="1800" b="0" dirty="0">
              <a:solidFill>
                <a:srgbClr val="5A5A61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7BDBC99-88BF-4B4B-88A3-EFD52FBBBDB0}"/>
              </a:ext>
            </a:extLst>
          </p:cNvPr>
          <p:cNvSpPr>
            <a:spLocks noGrp="1"/>
          </p:cNvSpPr>
          <p:nvPr/>
        </p:nvSpPr>
        <p:spPr>
          <a:xfrm>
            <a:off x="10877550" y="6419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11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5010A90E-3AE7-40E6-8684-24259EE15D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1087075"/>
              </p:ext>
            </p:extLst>
          </p:nvPr>
        </p:nvGraphicFramePr>
        <p:xfrm>
          <a:off x="609600" y="2466975"/>
          <a:ext cx="10934700" cy="3267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5116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4972FAB-4603-42C2-993E-D6A8298059B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38150" cy="76200"/>
          </a:xfrm>
          <a:prstGeom prst="rect">
            <a:avLst/>
          </a:prstGeom>
          <a:solidFill>
            <a:srgbClr val="FA5416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1C554E-6AE3-400B-B1BC-13CAFAFF08F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34700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Что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я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могу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сказать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</a:t>
            </a:r>
            <a:r>
              <a:rPr sz="3200" b="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результатам</a:t>
            </a:r>
            <a:endParaRPr sz="3200" b="1" dirty="0">
              <a:solidFill>
                <a:srgbClr val="FFFFFF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1BE008F-6E50-49BA-975D-805453B633D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347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800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Восстановление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качества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началось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,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но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его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оказалось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1800" b="0" dirty="0" err="1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недостаточно</a:t>
            </a:r>
            <a:r>
              <a:rPr sz="1800" b="0" dirty="0">
                <a:solidFill>
                  <a:srgbClr val="C4C4CC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DD203C6-E3C2-4966-B31D-3F193ED10035}"/>
              </a:ext>
            </a:extLst>
          </p:cNvPr>
          <p:cNvSpPr>
            <a:spLocks noGrp="1"/>
          </p:cNvSpPr>
          <p:nvPr/>
        </p:nvSpPr>
        <p:spPr>
          <a:xfrm>
            <a:off x="10877550" y="6419850"/>
            <a:ext cx="6667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D8E1926-3C70-4F04-86DA-BD7B718FF0A9}"/>
              </a:ext>
            </a:extLst>
          </p:cNvPr>
          <p:cNvSpPr>
            <a:spLocks noGrp="1"/>
          </p:cNvSpPr>
          <p:nvPr/>
        </p:nvSpPr>
        <p:spPr>
          <a:xfrm>
            <a:off x="609600" y="2676525"/>
            <a:ext cx="857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800" b="1" dirty="0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01</a:t>
            </a:r>
            <a:endParaRPr sz="2550" b="1" dirty="0">
              <a:solidFill>
                <a:srgbClr val="FA5416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3B87973-3802-448D-BE8E-EA1B49350150}"/>
              </a:ext>
            </a:extLst>
          </p:cNvPr>
          <p:cNvSpPr>
            <a:spLocks noGrp="1"/>
          </p:cNvSpPr>
          <p:nvPr/>
        </p:nvSpPr>
        <p:spPr>
          <a:xfrm>
            <a:off x="1676400" y="2676525"/>
            <a:ext cx="971550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Языковое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качество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улучшилось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  <a:p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Исходную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RoPE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модель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пока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не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догнала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882CB08-56D4-439E-8B97-82A8BB2FCACD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857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800" b="1" dirty="0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02</a:t>
            </a:r>
            <a:endParaRPr sz="2550" b="1" dirty="0">
              <a:solidFill>
                <a:srgbClr val="FA5416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35CB044-A018-4748-9857-990786401B1F}"/>
              </a:ext>
            </a:extLst>
          </p:cNvPr>
          <p:cNvSpPr>
            <a:spLocks noGrp="1"/>
          </p:cNvSpPr>
          <p:nvPr/>
        </p:nvSpPr>
        <p:spPr>
          <a:xfrm>
            <a:off x="1676400" y="3857625"/>
            <a:ext cx="971550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На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длинном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LM-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тесте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помог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подбор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beta.</a:t>
            </a:r>
          </a:p>
          <a:p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YaRN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и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Dynamic NTK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всё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равно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лучше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CE3B803-4D90-425F-A1C4-FB3F77F5DED5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857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800" b="1" dirty="0">
                <a:solidFill>
                  <a:srgbClr val="FA5416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03</a:t>
            </a:r>
            <a:endParaRPr sz="2550" b="1" dirty="0">
              <a:solidFill>
                <a:srgbClr val="FA5416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3EE1D4E-4A58-42DF-A521-2DB871E73369}"/>
              </a:ext>
            </a:extLst>
          </p:cNvPr>
          <p:cNvSpPr>
            <a:spLocks noGrp="1"/>
          </p:cNvSpPr>
          <p:nvPr/>
        </p:nvSpPr>
        <p:spPr>
          <a:xfrm>
            <a:off x="1676400" y="5038725"/>
            <a:ext cx="9715500" cy="838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Поиск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факта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в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тексте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не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восстановился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  <a:p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При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таком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бюджете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это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не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опровергает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статью</a:t>
            </a:r>
            <a:r>
              <a:rPr sz="2000" b="0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09111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Macintosh PowerPoint</Application>
  <DocSecurity>0</DocSecurity>
  <PresentationFormat>Широкоэкранный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Aptos</vt:lpstr>
      <vt:lpstr>Arial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Vladislav Spirin</cp:lastModifiedBy>
  <cp:revision>1</cp:revision>
  <dcterms:created xsi:type="dcterms:W3CDTF">2026-10-11T10:00:37Z</dcterms:created>
  <dcterms:modified xsi:type="dcterms:W3CDTF">2026-10-11T11:21:15Z</dcterms:modified>
</cp:coreProperties>
</file>